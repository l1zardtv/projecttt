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notesMasterIdLst>
    <p:notesMasterId r:id="rId17"/>
  </p:notesMasterIdLst>
  <p:sldIdLst>
    <p:sldId id="256" r:id="rId2"/>
    <p:sldId id="280" r:id="rId3"/>
    <p:sldId id="283" r:id="rId4"/>
    <p:sldId id="298" r:id="rId5"/>
    <p:sldId id="284" r:id="rId6"/>
    <p:sldId id="285" r:id="rId7"/>
    <p:sldId id="286" r:id="rId8"/>
    <p:sldId id="296" r:id="rId9"/>
    <p:sldId id="297" r:id="rId10"/>
    <p:sldId id="288" r:id="rId11"/>
    <p:sldId id="289" r:id="rId12"/>
    <p:sldId id="292" r:id="rId13"/>
    <p:sldId id="293" r:id="rId14"/>
    <p:sldId id="294" r:id="rId15"/>
    <p:sldId id="295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91B2"/>
    <a:srgbClr val="62C8DE"/>
    <a:srgbClr val="089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AF478-7B9D-870D-A6A4-06CE36B5CBAC}" v="1" dt="2025-12-09T22:15:02.599"/>
    <p1510:client id="{89327D68-625B-DE42-DEA9-C4B744A05439}" v="1984" dt="2025-12-09T22:14:27.657"/>
    <p1510:client id="{A1DC1D24-4066-1E2B-30A6-F858AD933DD1}" v="72" dt="2025-12-10T19:11:39.352"/>
    <p1510:client id="{BE44F5B7-D01D-4AFE-4321-9FA1D369578E}" v="3" dt="2025-12-10T19:24:40.681"/>
    <p1510:client id="{BFEDC584-485D-D9B9-42A8-2E7902376A96}" v="136" dt="2025-12-10T19:10:00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070" autoAdjust="0"/>
  </p:normalViewPr>
  <p:slideViewPr>
    <p:cSldViewPr snapToGrid="0">
      <p:cViewPr varScale="1">
        <p:scale>
          <a:sx n="60" d="100"/>
          <a:sy n="60" d="100"/>
        </p:scale>
        <p:origin x="72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EE6B6-5D61-40ED-9AD8-BBAAB708A29C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8AE37-CCB3-4251-BDA7-63C2C6DF0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0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8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4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6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8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8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179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5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898162" cy="13245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ОТЧЕТ</a:t>
            </a:r>
            <a:r>
              <a:rPr lang="ru-RU" b="1" dirty="0">
                <a:latin typeface="Times New Roman"/>
              </a:rPr>
              <a:t/>
            </a:r>
            <a:br>
              <a:rPr lang="ru-RU" b="1" dirty="0">
                <a:latin typeface="Times New Roman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о прохождении учебной практики</a:t>
            </a:r>
            <a:b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Разработка веб-приложения на базе 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WPF </a:t>
            </a:r>
            <a:r>
              <a:rPr lang="en-US" sz="1800" dirty="0" err="1" smtClean="0">
                <a:solidFill>
                  <a:schemeClr val="bg1"/>
                </a:solidFill>
                <a:latin typeface="Segoe UI"/>
                <a:cs typeface="Segoe UI"/>
              </a:rPr>
              <a:t>.Net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 Framework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 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для кондитерского </a:t>
            </a: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магазина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50808" y="5376819"/>
            <a:ext cx="5587057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ФИО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Мороз Григорий Игоревич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5C1F904-1023-4EDA-2931-049B714588EB}"/>
              </a:ext>
            </a:extLst>
          </p:cNvPr>
          <p:cNvSpPr txBox="1">
            <a:spLocks/>
          </p:cNvSpPr>
          <p:nvPr/>
        </p:nvSpPr>
        <p:spPr>
          <a:xfrm>
            <a:off x="4818990" y="5926157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Группа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53-04к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/>
                <a:cs typeface="Times New Roman"/>
              </a:rPr>
              <a:t>Информация о практике</a:t>
            </a:r>
            <a:endParaRPr lang="ru-RU" sz="4000" dirty="0">
              <a:latin typeface="Times New Roman"/>
              <a:cs typeface="Times New Roman"/>
            </a:endParaRP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E1765CD-2203-F20B-C1DE-A2C22E3104C4}"/>
              </a:ext>
            </a:extLst>
          </p:cNvPr>
          <p:cNvSpPr/>
          <p:nvPr/>
        </p:nvSpPr>
        <p:spPr>
          <a:xfrm>
            <a:off x="1303421" y="2010320"/>
            <a:ext cx="8672763" cy="982578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9">
            <a:extLst>
              <a:ext uri="{FF2B5EF4-FFF2-40B4-BE49-F238E27FC236}">
                <a16:creationId xmlns:a16="http://schemas.microsoft.com/office/drawing/2014/main" id="{46C8F619-DCC9-8917-C69E-A438944449F8}"/>
              </a:ext>
            </a:extLst>
          </p:cNvPr>
          <p:cNvSpPr/>
          <p:nvPr/>
        </p:nvSpPr>
        <p:spPr>
          <a:xfrm>
            <a:off x="1303421" y="3213478"/>
            <a:ext cx="8672763" cy="982578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E0D36D-C1A2-EB1C-6B44-BA8EAE37BA93}"/>
              </a:ext>
            </a:extLst>
          </p:cNvPr>
          <p:cNvSpPr txBox="1"/>
          <p:nvPr/>
        </p:nvSpPr>
        <p:spPr>
          <a:xfrm>
            <a:off x="1423738" y="1920083"/>
            <a:ext cx="842210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rtl="0">
              <a:lnSpc>
                <a:spcPct val="150000"/>
              </a:lnSpc>
              <a:buFont typeface="Arial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Arial"/>
                <a:cs typeface="Arial"/>
              </a:rPr>
              <a:t>Срок прохождения практики</a:t>
            </a:r>
            <a:r>
              <a:rPr lang="ru-RU" sz="2000" dirty="0">
                <a:latin typeface="Times New Roman"/>
                <a:ea typeface="Arial"/>
                <a:cs typeface="Arial"/>
              </a:rPr>
              <a:t>​</a:t>
            </a:r>
            <a:endParaRPr lang="ru-RU" dirty="0">
              <a:ea typeface="Calibri"/>
              <a:cs typeface="Calibri"/>
            </a:endParaRPr>
          </a:p>
          <a:p>
            <a:pPr rtl="0"/>
            <a:r>
              <a:rPr lang="ru-RU" sz="1600" dirty="0" smtClean="0">
                <a:latin typeface="Times New Roman"/>
                <a:ea typeface="Arial"/>
                <a:cs typeface="Arial"/>
              </a:rPr>
              <a:t>30</a:t>
            </a:r>
            <a:r>
              <a:rPr lang="ru-RU" sz="1600" dirty="0" smtClean="0">
                <a:latin typeface="Times New Roman"/>
                <a:ea typeface="Arial"/>
                <a:cs typeface="Arial"/>
              </a:rPr>
              <a:t>.03.2026</a:t>
            </a:r>
            <a:r>
              <a:rPr lang="ru-RU" sz="1600" baseline="0" dirty="0" smtClean="0">
                <a:latin typeface="Times New Roman"/>
                <a:ea typeface="Arial"/>
                <a:cs typeface="Arial"/>
              </a:rPr>
              <a:t> </a:t>
            </a:r>
            <a:r>
              <a:rPr lang="ru-RU" sz="1600" baseline="0" dirty="0">
                <a:latin typeface="Times New Roman"/>
                <a:ea typeface="Arial"/>
                <a:cs typeface="Arial"/>
              </a:rPr>
              <a:t>- </a:t>
            </a:r>
            <a:r>
              <a:rPr lang="ru-RU" sz="1600" baseline="0" dirty="0" smtClean="0">
                <a:latin typeface="Times New Roman"/>
                <a:ea typeface="Arial"/>
                <a:cs typeface="Arial"/>
              </a:rPr>
              <a:t>25</a:t>
            </a:r>
            <a:r>
              <a:rPr lang="ru-RU" sz="1600" dirty="0" smtClean="0">
                <a:latin typeface="Times New Roman"/>
                <a:ea typeface="Arial"/>
                <a:cs typeface="Arial"/>
              </a:rPr>
              <a:t>.04.2026</a:t>
            </a:r>
            <a:endParaRPr lang="ru-RU" sz="1600" baseline="0" dirty="0">
              <a:latin typeface="Times New Roman"/>
              <a:ea typeface="Arial"/>
              <a:cs typeface="Arial"/>
            </a:endParaRPr>
          </a:p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39D3BC-D206-299F-C53D-2EDB175B257A}"/>
              </a:ext>
            </a:extLst>
          </p:cNvPr>
          <p:cNvSpPr txBox="1"/>
          <p:nvPr/>
        </p:nvSpPr>
        <p:spPr>
          <a:xfrm>
            <a:off x="1423738" y="3083137"/>
            <a:ext cx="786603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lnSpc>
                <a:spcPct val="150000"/>
              </a:lnSpc>
              <a:buFont typeface="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Arial"/>
                <a:cs typeface="Arial"/>
              </a:rPr>
              <a:t>Тема практики</a:t>
            </a:r>
            <a:r>
              <a:rPr lang="ru-RU" sz="2000" dirty="0" smtClean="0">
                <a:latin typeface="Times New Roman"/>
                <a:ea typeface="Arial"/>
                <a:cs typeface="Arial"/>
              </a:rPr>
              <a:t>​</a:t>
            </a:r>
          </a:p>
          <a:p>
            <a:pPr lvl="0">
              <a:lnSpc>
                <a:spcPct val="150000"/>
              </a:lnSpc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 на базе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кондитерского магазина</a:t>
            </a:r>
            <a:endParaRPr lang="ru-RU" sz="1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7B745-5922-4F99-67E0-E8E31C79115E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latin typeface="Times New Roman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9834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01E07-9E13-ACC2-6AC1-2AF91610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противолежащие углы 9">
            <a:extLst>
              <a:ext uri="{FF2B5EF4-FFF2-40B4-BE49-F238E27FC236}">
                <a16:creationId xmlns:a16="http://schemas.microsoft.com/office/drawing/2014/main" id="{3CA7F589-D2FA-D4B7-C16F-581377EECEA7}"/>
              </a:ext>
            </a:extLst>
          </p:cNvPr>
          <p:cNvSpPr/>
          <p:nvPr/>
        </p:nvSpPr>
        <p:spPr>
          <a:xfrm>
            <a:off x="1012657" y="1814763"/>
            <a:ext cx="8963647" cy="1293394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противолежащие углы 10">
            <a:extLst>
              <a:ext uri="{FF2B5EF4-FFF2-40B4-BE49-F238E27FC236}">
                <a16:creationId xmlns:a16="http://schemas.microsoft.com/office/drawing/2014/main" id="{CFEE25AE-8976-3334-35BE-EDBFFFFA2B72}"/>
              </a:ext>
            </a:extLst>
          </p:cNvPr>
          <p:cNvSpPr/>
          <p:nvPr/>
        </p:nvSpPr>
        <p:spPr>
          <a:xfrm>
            <a:off x="1205452" y="1814762"/>
            <a:ext cx="8770852" cy="1293394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2944FBE-BA2A-3303-0C25-5479B31B6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/>
                <a:cs typeface="Times New Roman"/>
              </a:rPr>
              <a:t>Цели и задачи практики</a:t>
            </a:r>
            <a:endParaRPr lang="ru-RU" sz="40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4FE25-DA84-6353-75C9-B429BA41CE15}"/>
              </a:ext>
            </a:extLst>
          </p:cNvPr>
          <p:cNvSpPr txBox="1"/>
          <p:nvPr/>
        </p:nvSpPr>
        <p:spPr>
          <a:xfrm>
            <a:off x="1294482" y="1813193"/>
            <a:ext cx="7995292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ct val="150000"/>
              </a:lnSpc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Цель практики</a:t>
            </a:r>
            <a:r>
              <a:rPr lang="ru-RU" sz="2000" b="1" dirty="0">
                <a:latin typeface="Times New Roman"/>
                <a:ea typeface="Segoe UI"/>
                <a:cs typeface="Segoe UI"/>
              </a:rPr>
              <a:t>​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 на базе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кондитерского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магазина</a:t>
            </a:r>
            <a:r>
              <a:rPr lang="ru-RU" sz="1600" baseline="0" dirty="0" smtClean="0">
                <a:latin typeface="Times New Roman"/>
                <a:ea typeface="Segoe UI"/>
                <a:cs typeface="Segoe UI"/>
              </a:rPr>
              <a:t>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0303E4-85EC-CE1D-A0A5-842DDEF57BA8}"/>
              </a:ext>
            </a:extLst>
          </p:cNvPr>
          <p:cNvSpPr txBox="1"/>
          <p:nvPr/>
        </p:nvSpPr>
        <p:spPr>
          <a:xfrm>
            <a:off x="1012658" y="342900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Основные</a:t>
            </a:r>
            <a:r>
              <a:rPr lang="en-US" sz="2000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2000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задачи</a:t>
            </a:r>
            <a:endParaRPr lang="en-US" sz="2000" b="1" dirty="0">
              <a:solidFill>
                <a:srgbClr val="0891B2"/>
              </a:solidFill>
              <a:latin typeface="Times New Roman"/>
              <a:ea typeface="Segoe UI"/>
              <a:cs typeface="Segoe UI"/>
            </a:endParaRPr>
          </a:p>
          <a:p>
            <a:pPr algn="ctr"/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6BAA959-491A-F205-9D9D-8CF84077CD73}"/>
              </a:ext>
            </a:extLst>
          </p:cNvPr>
          <p:cNvCxnSpPr/>
          <p:nvPr/>
        </p:nvCxnSpPr>
        <p:spPr>
          <a:xfrm flipV="1">
            <a:off x="1012658" y="3749841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E4A8952-9ECE-0EAF-E29B-57ABC3A60A76}"/>
              </a:ext>
            </a:extLst>
          </p:cNvPr>
          <p:cNvSpPr txBox="1"/>
          <p:nvPr/>
        </p:nvSpPr>
        <p:spPr>
          <a:xfrm>
            <a:off x="996538" y="3786998"/>
            <a:ext cx="9671461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Постановка </a:t>
            </a:r>
            <a:r>
              <a:rPr lang="ru-RU" sz="1600" dirty="0"/>
              <a:t>задачи на разработку программного продукта. Анализ поставленной задачи</a:t>
            </a:r>
            <a:r>
              <a:rPr lang="ru-RU" sz="1600" dirty="0" smtClean="0"/>
              <a:t>.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Определение объектов задачи и их атрибутов. Выявление связей между объектами. Составление алгоритма решение задачи и его оптимизации</a:t>
            </a:r>
            <a:r>
              <a:rPr lang="ru-RU" sz="1600" dirty="0" smtClean="0"/>
              <a:t>.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Создание интерфейса программного продукта на основе объектов поставленной задачи и их свойств</a:t>
            </a:r>
            <a:r>
              <a:rPr lang="ru-RU" sz="1600" dirty="0" smtClean="0"/>
              <a:t>.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Отладка программного </a:t>
            </a:r>
            <a:r>
              <a:rPr lang="ru-RU" sz="1600" dirty="0" smtClean="0"/>
              <a:t>продукта.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Тестирование программного продукта</a:t>
            </a:r>
            <a:r>
              <a:rPr lang="ru-RU" sz="1600" dirty="0" smtClean="0"/>
              <a:t>.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Оптимизация программного кода и интерфейса </a:t>
            </a:r>
            <a:r>
              <a:rPr lang="ru-RU" sz="1600" dirty="0" smtClean="0"/>
              <a:t>продукта.</a:t>
            </a:r>
            <a:endParaRPr lang="ru-RU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6D5C7-FC3A-57E6-B169-B622277FE6D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74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7B45-74CF-22BD-6397-764CEE60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080AC4F-EAF0-C3C0-0D4D-055331D9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55333"/>
            <a:ext cx="10123531" cy="96963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1: Постановка задачи на разработку программного продукта. Анализ поставленной задачи.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031FFF-C189-D04E-E6FA-F558665FFB34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30 марта 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 1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38C2D66-3C4F-EDC0-540D-8A3C514639C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26144B-0ED7-3BD2-B1E5-9708768F07EE}"/>
              </a:ext>
            </a:extLst>
          </p:cNvPr>
          <p:cNvSpPr txBox="1"/>
          <p:nvPr/>
        </p:nvSpPr>
        <p:spPr>
          <a:xfrm>
            <a:off x="933489" y="2320725"/>
            <a:ext cx="997514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Магазину кондитерских изделий необходимо создать программный модуль для того чтобы пользователи могли просматривать каталог, добавлять товары в корзину и делать заказы. В программном модуле должно быть распределение ролей, чтобы администраторы могли контролировать приложение. 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 регистрируются в приложении, выбирают товары и делают заказы в корзине, после чего могут скачать электронный чек с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-кодом заказа. О них надо хранить логин, пароль, почту и город в котором они делают заказ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96862-8392-7D48-87C7-A3751B7726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5968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2070D-58C9-AD3E-3705-C26FE8DC4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скругленный угол 4">
            <a:extLst>
              <a:ext uri="{FF2B5EF4-FFF2-40B4-BE49-F238E27FC236}">
                <a16:creationId xmlns:a16="http://schemas.microsoft.com/office/drawing/2014/main" id="{2491E557-DA2A-8BFD-DC11-E2DE3FF7EBE4}"/>
              </a:ext>
            </a:extLst>
          </p:cNvPr>
          <p:cNvSpPr/>
          <p:nvPr/>
        </p:nvSpPr>
        <p:spPr>
          <a:xfrm>
            <a:off x="600892" y="5401016"/>
            <a:ext cx="6385756" cy="10215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6CCC766-8956-443C-FBB3-4B327608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690632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2: Определение объектов задачи и их атрибутов.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6D73B-2646-ED49-CE6F-52F12F25AB93}"/>
              </a:ext>
            </a:extLst>
          </p:cNvPr>
          <p:cNvSpPr txBox="1"/>
          <p:nvPr/>
        </p:nvSpPr>
        <p:spPr>
          <a:xfrm>
            <a:off x="1012658" y="1753564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2 - 5 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BF3E2DFE-0C64-9BEF-3560-9F4075F2BCB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5B2821-2FFE-5D9F-4E8B-9D9F0CD55D52}"/>
              </a:ext>
            </a:extLst>
          </p:cNvPr>
          <p:cNvSpPr txBox="1"/>
          <p:nvPr/>
        </p:nvSpPr>
        <p:spPr>
          <a:xfrm>
            <a:off x="745770" y="2070588"/>
            <a:ext cx="636288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Проанализирована предметная область </a:t>
            </a:r>
            <a:r>
              <a:rPr lang="ru-RU" sz="1600" dirty="0" smtClean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(</a:t>
            </a:r>
            <a:r>
              <a:rPr lang="ru-RU" sz="1600" dirty="0" smtClean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кондитерского</a:t>
            </a:r>
            <a:r>
              <a:rPr lang="ru-RU" sz="1600" dirty="0" smtClean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магазин);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Определены основные сущности: пользователи,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корзины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заказы, каталоги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т.д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модели данных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Framework);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Настроены связи между таблицами;</a:t>
            </a:r>
            <a:endParaRPr lang="ru-RU" sz="1600" dirty="0"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: один скругленный угол 5">
            <a:extLst>
              <a:ext uri="{FF2B5EF4-FFF2-40B4-BE49-F238E27FC236}">
                <a16:creationId xmlns:a16="http://schemas.microsoft.com/office/drawing/2014/main" id="{07A14C0E-C2A6-8E6C-5949-51A79C62A103}"/>
              </a:ext>
            </a:extLst>
          </p:cNvPr>
          <p:cNvSpPr/>
          <p:nvPr/>
        </p:nvSpPr>
        <p:spPr>
          <a:xfrm>
            <a:off x="670560" y="5486400"/>
            <a:ext cx="6316087" cy="93617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A77A5-5914-046D-755C-82401232AFB6}"/>
              </a:ext>
            </a:extLst>
          </p:cNvPr>
          <p:cNvSpPr txBox="1"/>
          <p:nvPr/>
        </p:nvSpPr>
        <p:spPr>
          <a:xfrm>
            <a:off x="670559" y="5447410"/>
            <a:ext cx="6096000" cy="715089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: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Segoe UI"/>
                <a:cs typeface="Segoe UI"/>
              </a:rPr>
              <a:t> </a:t>
            </a:r>
          </a:p>
          <a:p>
            <a:r>
              <a:rPr lang="ru-RU" dirty="0">
                <a:latin typeface="Times New Roman"/>
                <a:ea typeface="Segoe UI"/>
                <a:cs typeface="Segoe UI"/>
              </a:rPr>
              <a:t>Сформирована структура базы данных приложения.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9FFA69-4046-EAEB-BC80-E259226765C2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5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36A92F6F-732D-4223-BF8A-66ED631F7C4B}"/>
              </a:ext>
            </a:extLst>
          </p:cNvPr>
          <p:cNvSpPr/>
          <p:nvPr/>
        </p:nvSpPr>
        <p:spPr>
          <a:xfrm>
            <a:off x="7187828" y="2122896"/>
            <a:ext cx="4801252" cy="4225653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3" name="Рисунок 12"/>
          <p:cNvPicPr/>
          <p:nvPr/>
        </p:nvPicPr>
        <p:blipFill>
          <a:blip r:embed="rId2"/>
          <a:stretch>
            <a:fillRect/>
          </a:stretch>
        </p:blipFill>
        <p:spPr>
          <a:xfrm>
            <a:off x="7108658" y="2079678"/>
            <a:ext cx="5083342" cy="434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81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7B45-74CF-22BD-6397-764CEE60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080AC4F-EAF0-C3C0-0D4D-055331D9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55333"/>
            <a:ext cx="10123531" cy="96963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3: Создание интерфейса программного продукта на основе объектов поставленной задачи и их свойств.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031FFF-C189-D04E-E6FA-F558665FFB34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6 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15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38C2D66-3C4F-EDC0-540D-8A3C514639C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26144B-0ED7-3BD2-B1E5-9708768F07EE}"/>
              </a:ext>
            </a:extLst>
          </p:cNvPr>
          <p:cNvSpPr txBox="1"/>
          <p:nvPr/>
        </p:nvSpPr>
        <p:spPr>
          <a:xfrm>
            <a:off x="430479" y="3498273"/>
            <a:ext cx="60960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/>
                <a:cs typeface="Segoe UI"/>
              </a:rPr>
              <a:t>Разработан программный блок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/>
                <a:cs typeface="Segoe UI"/>
              </a:rPr>
              <a:t>Созданы блок кода регистрации и авторизации</a:t>
            </a:r>
            <a:r>
              <a:rPr lang="en-US" sz="1600" dirty="0" smtClean="0">
                <a:latin typeface="Times New Roman"/>
                <a:cs typeface="Segoe UI"/>
              </a:rPr>
              <a:t>;</a:t>
            </a:r>
            <a:endParaRPr lang="ru-RU" sz="1600" dirty="0">
              <a:latin typeface="Times New Roman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/>
                <a:cs typeface="Segoe UI"/>
              </a:rPr>
              <a:t>Созданы все необходимые страницы для работы программы</a:t>
            </a:r>
            <a:r>
              <a:rPr lang="en-US" sz="1600" dirty="0" smtClean="0">
                <a:latin typeface="Times New Roman"/>
                <a:cs typeface="Segoe UI"/>
              </a:rPr>
              <a:t>;</a:t>
            </a:r>
            <a:endParaRPr lang="ru-RU" sz="1600" dirty="0">
              <a:latin typeface="Times New Roman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/>
                <a:cs typeface="Segoe UI"/>
              </a:rPr>
              <a:t>Создан функционал создание </a:t>
            </a:r>
            <a:r>
              <a:rPr lang="en-US" sz="1600" dirty="0" smtClean="0">
                <a:latin typeface="Times New Roman"/>
                <a:cs typeface="Segoe UI"/>
              </a:rPr>
              <a:t>pdf-</a:t>
            </a:r>
            <a:r>
              <a:rPr lang="ru-RU" sz="1600" dirty="0" smtClean="0">
                <a:latin typeface="Times New Roman"/>
                <a:cs typeface="Segoe UI"/>
              </a:rPr>
              <a:t>чека.</a:t>
            </a:r>
            <a:endParaRPr lang="ru-RU" sz="1600" dirty="0">
              <a:latin typeface="Times New Roman"/>
              <a:cs typeface="Segoe UI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93DB55A4-1967-1973-80A9-DE6736C7F06B}"/>
              </a:ext>
            </a:extLst>
          </p:cNvPr>
          <p:cNvSpPr/>
          <p:nvPr/>
        </p:nvSpPr>
        <p:spPr>
          <a:xfrm>
            <a:off x="6660077" y="3542805"/>
            <a:ext cx="5225142" cy="1128156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F2E5DC18-C68B-9DB5-8391-146EEBCB6715}"/>
              </a:ext>
            </a:extLst>
          </p:cNvPr>
          <p:cNvSpPr/>
          <p:nvPr/>
        </p:nvSpPr>
        <p:spPr>
          <a:xfrm>
            <a:off x="6828310" y="3542805"/>
            <a:ext cx="5086598" cy="1128156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90A862-FEB5-D76B-2841-02D4C2F144F4}"/>
              </a:ext>
            </a:extLst>
          </p:cNvPr>
          <p:cNvSpPr txBox="1"/>
          <p:nvPr/>
        </p:nvSpPr>
        <p:spPr>
          <a:xfrm>
            <a:off x="6927273" y="3498273"/>
            <a:ext cx="5076702" cy="919401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ea typeface="Segoe UI"/>
              <a:cs typeface="Times New Roman"/>
            </a:endParaRP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создано и готово к тестированию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Скриншот на сл.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u-RU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- 8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96862-8392-7D48-87C7-A3751B7726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8307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A49E-7C93-9ED4-9BBC-483BBCF8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5656D59-DB0D-24B0-C57B-FAC513ED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</a:t>
            </a:r>
            <a:r>
              <a:rPr lang="ru-RU" sz="3200" b="1" dirty="0" smtClean="0">
                <a:latin typeface="Times New Roman"/>
                <a:cs typeface="Times New Roman"/>
              </a:rPr>
              <a:t>3 </a:t>
            </a:r>
            <a:r>
              <a:rPr lang="ru-RU" sz="3200" b="1" dirty="0">
                <a:latin typeface="Times New Roman"/>
                <a:cs typeface="Times New Roman"/>
              </a:rPr>
              <a:t>: </a:t>
            </a:r>
            <a:endParaRPr lang="ru-RU" sz="3200" dirty="0"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E9916-A1EB-CA6C-7C9F-B5C80FD46564}"/>
              </a:ext>
            </a:extLst>
          </p:cNvPr>
          <p:cNvSpPr txBox="1"/>
          <p:nvPr/>
        </p:nvSpPr>
        <p:spPr>
          <a:xfrm>
            <a:off x="2314384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№1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776E-4B39-2ED1-5528-46DBEAC70167}"/>
              </a:ext>
            </a:extLst>
          </p:cNvPr>
          <p:cNvSpPr txBox="1"/>
          <p:nvPr/>
        </p:nvSpPr>
        <p:spPr>
          <a:xfrm>
            <a:off x="8196218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№2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2254E-A9D7-22A2-CC97-6879FF525844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7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450264" y="1715071"/>
            <a:ext cx="5363078" cy="3705553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3"/>
          <a:stretch>
            <a:fillRect/>
          </a:stretch>
        </p:blipFill>
        <p:spPr>
          <a:xfrm>
            <a:off x="6332098" y="1715070"/>
            <a:ext cx="5363078" cy="370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9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A49E-7C93-9ED4-9BBC-483BBCF8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5656D59-DB0D-24B0-C57B-FAC513ED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</a:t>
            </a:r>
            <a:r>
              <a:rPr lang="ru-RU" sz="3200" b="1" dirty="0" smtClean="0">
                <a:latin typeface="Times New Roman"/>
                <a:cs typeface="Times New Roman"/>
              </a:rPr>
              <a:t>3 </a:t>
            </a:r>
            <a:r>
              <a:rPr lang="ru-RU" sz="3200" b="1" dirty="0">
                <a:latin typeface="Times New Roman"/>
                <a:cs typeface="Times New Roman"/>
              </a:rPr>
              <a:t>: </a:t>
            </a:r>
            <a:endParaRPr lang="ru-RU" sz="3200" dirty="0"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E9916-A1EB-CA6C-7C9F-B5C80FD46564}"/>
              </a:ext>
            </a:extLst>
          </p:cNvPr>
          <p:cNvSpPr txBox="1"/>
          <p:nvPr/>
        </p:nvSpPr>
        <p:spPr>
          <a:xfrm>
            <a:off x="2715436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</a:t>
            </a:r>
            <a:r>
              <a:rPr lang="ru-RU" sz="1600" dirty="0" smtClean="0">
                <a:latin typeface="Times New Roman"/>
                <a:ea typeface="Calibri"/>
                <a:cs typeface="Calibri"/>
              </a:rPr>
              <a:t>№3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776E-4B39-2ED1-5528-46DBEAC70167}"/>
              </a:ext>
            </a:extLst>
          </p:cNvPr>
          <p:cNvSpPr txBox="1"/>
          <p:nvPr/>
        </p:nvSpPr>
        <p:spPr>
          <a:xfrm>
            <a:off x="8447136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</a:t>
            </a:r>
            <a:r>
              <a:rPr lang="ru-RU" sz="1600" dirty="0" smtClean="0">
                <a:latin typeface="Times New Roman"/>
                <a:ea typeface="Calibri"/>
                <a:cs typeface="Calibri"/>
              </a:rPr>
              <a:t>№4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2254E-A9D7-22A2-CC97-6879FF525844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8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376682" y="1715070"/>
            <a:ext cx="6040160" cy="3739245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3"/>
          <a:stretch>
            <a:fillRect/>
          </a:stretch>
        </p:blipFill>
        <p:spPr>
          <a:xfrm>
            <a:off x="6833936" y="1715070"/>
            <a:ext cx="4861239" cy="359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9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DE6-3FDC-02C3-D68C-2816DA66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9507D79-C9E9-13B9-AF27-19B0C779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837191"/>
            <a:ext cx="7853756" cy="814938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</a:t>
            </a:r>
            <a:r>
              <a:rPr lang="ru-RU" sz="3200" b="1" dirty="0" smtClean="0">
                <a:latin typeface="Times New Roman"/>
                <a:cs typeface="Times New Roman"/>
              </a:rPr>
              <a:t>4</a:t>
            </a:r>
            <a:r>
              <a:rPr lang="ru-RU" sz="3200" b="1" dirty="0">
                <a:latin typeface="Times New Roman"/>
                <a:cs typeface="Times New Roman"/>
              </a:rPr>
              <a:t>: Отладка программного продукта</a:t>
            </a:r>
            <a:endParaRPr lang="ru-RU" sz="3200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C9FF2-E7D2-7A03-531A-41BBBCBE241B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16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-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17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DE67B3E-63CB-E540-0ADB-406C0A2DABD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E1D7AA-EF5E-2719-F6EA-6DB12E0FBE77}"/>
              </a:ext>
            </a:extLst>
          </p:cNvPr>
          <p:cNvSpPr txBox="1"/>
          <p:nvPr/>
        </p:nvSpPr>
        <p:spPr>
          <a:xfrm>
            <a:off x="306781" y="3327541"/>
            <a:ext cx="60960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Проверена работоспособность форм ввода</a:t>
            </a:r>
            <a:r>
              <a:rPr lang="en-US" sz="1600" dirty="0" smtClean="0"/>
              <a:t>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Проверена </a:t>
            </a:r>
            <a:r>
              <a:rPr lang="ru-RU" sz="1600" dirty="0" err="1" smtClean="0"/>
              <a:t>валидация</a:t>
            </a:r>
            <a:r>
              <a:rPr lang="ru-RU" sz="1600" dirty="0" smtClean="0"/>
              <a:t> форм</a:t>
            </a:r>
            <a:r>
              <a:rPr lang="ru-RU" sz="1600" dirty="0" smtClean="0"/>
              <a:t>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Проверена корректность функционала добавления товара в корзину</a:t>
            </a:r>
            <a:r>
              <a:rPr lang="ru-RU" sz="1600" dirty="0" smtClean="0"/>
              <a:t>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Проверена совместимость базы данных и программы</a:t>
            </a:r>
            <a:r>
              <a:rPr lang="ru-RU" sz="1600" dirty="0" smtClean="0"/>
              <a:t>;</a:t>
            </a:r>
            <a:endParaRPr lang="ru-RU" sz="1600" dirty="0"/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F61C72F1-465E-84CD-BDB3-B47800D5829D}"/>
              </a:ext>
            </a:extLst>
          </p:cNvPr>
          <p:cNvSpPr/>
          <p:nvPr/>
        </p:nvSpPr>
        <p:spPr>
          <a:xfrm>
            <a:off x="6660077" y="3542805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E6913325-CB57-7481-2901-09813179032A}"/>
              </a:ext>
            </a:extLst>
          </p:cNvPr>
          <p:cNvSpPr/>
          <p:nvPr/>
        </p:nvSpPr>
        <p:spPr>
          <a:xfrm>
            <a:off x="6828310" y="3542805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2AC27-AAF8-3FA5-5B3A-CBFB4928E166}"/>
              </a:ext>
            </a:extLst>
          </p:cNvPr>
          <p:cNvSpPr txBox="1"/>
          <p:nvPr/>
        </p:nvSpPr>
        <p:spPr>
          <a:xfrm>
            <a:off x="6927273" y="3565015"/>
            <a:ext cx="4838007" cy="1191816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dirty="0" err="1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600" dirty="0">
              <a:solidFill>
                <a:srgbClr val="08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solidFill>
                <a:srgbClr val="08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Проведена отладка приложения, выявленные ошибки устранены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6862F-E915-CA2D-C090-720881B87570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9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7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DE6-3FDC-02C3-D68C-2816DA66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9507D79-C9E9-13B9-AF27-19B0C779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837191"/>
            <a:ext cx="8895529" cy="814938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</a:t>
            </a:r>
            <a:r>
              <a:rPr lang="ru-RU" sz="3200" b="1" dirty="0">
                <a:latin typeface="Times New Roman"/>
                <a:cs typeface="Times New Roman"/>
              </a:rPr>
              <a:t>5: Тестирование программного продукта</a:t>
            </a:r>
            <a:endParaRPr lang="ru-RU" sz="3200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C9FF2-E7D2-7A03-531A-41BBBCBE241B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20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-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22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DE67B3E-63CB-E540-0ADB-406C0A2DABD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E1D7AA-EF5E-2719-F6EA-6DB12E0FBE77}"/>
              </a:ext>
            </a:extLst>
          </p:cNvPr>
          <p:cNvSpPr txBox="1"/>
          <p:nvPr/>
        </p:nvSpPr>
        <p:spPr>
          <a:xfrm>
            <a:off x="306781" y="3327541"/>
            <a:ext cx="6096000" cy="17045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Написаны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тесты для программного блока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Протестированы основные блоки кода;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регистрация и авторизация;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Добавлена корзина и оформление заказа;</a:t>
            </a: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F61C72F1-465E-84CD-BDB3-B47800D5829D}"/>
              </a:ext>
            </a:extLst>
          </p:cNvPr>
          <p:cNvSpPr/>
          <p:nvPr/>
        </p:nvSpPr>
        <p:spPr>
          <a:xfrm>
            <a:off x="6660077" y="3542805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E6913325-CB57-7481-2901-09813179032A}"/>
              </a:ext>
            </a:extLst>
          </p:cNvPr>
          <p:cNvSpPr/>
          <p:nvPr/>
        </p:nvSpPr>
        <p:spPr>
          <a:xfrm>
            <a:off x="6828310" y="3542805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2AC27-AAF8-3FA5-5B3A-CBFB4928E166}"/>
              </a:ext>
            </a:extLst>
          </p:cNvPr>
          <p:cNvSpPr txBox="1"/>
          <p:nvPr/>
        </p:nvSpPr>
        <p:spPr>
          <a:xfrm>
            <a:off x="6927273" y="3565015"/>
            <a:ext cx="4838007" cy="1021556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протестировано, ошибки выявленные при тестировании устранены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6862F-E915-CA2D-C090-720881B87570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10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815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8296996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6: Оптимизация программного кода и интерфейса продукта.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B0C702-78A4-4F0C-9307-175C6BD15CC6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23 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25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марта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153980" y="2909041"/>
            <a:ext cx="824143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Сокращено дублирование логики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Улучшено расположение элементов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Улучшена читаемость программного блока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 и оптимизирован отклик программы;</a:t>
            </a:r>
            <a:endParaRPr 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8271163" y="2785418"/>
            <a:ext cx="3802082" cy="166466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8395417" y="2882537"/>
            <a:ext cx="3677828" cy="1567543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8395417" y="2797985"/>
            <a:ext cx="3677828" cy="1634490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Проведена оптимизация всей программы. Улучшено взаимодействие пользователя с программой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7D60F-E186-E2BB-A7BE-56EFE3C09A3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11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534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B3E9-BAB3-C588-5455-6730CDEB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E5E03D3-7B81-1B90-7F07-659961FA6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Освоенные навыки и знания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9665CA-09BE-5191-9FD6-49C511B7D7C4}"/>
              </a:ext>
            </a:extLst>
          </p:cNvPr>
          <p:cNvSpPr txBox="1"/>
          <p:nvPr/>
        </p:nvSpPr>
        <p:spPr>
          <a:xfrm>
            <a:off x="1957558" y="1480421"/>
            <a:ext cx="3137065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rgbClr val="0891B2"/>
                </a:solidFill>
                <a:latin typeface="Times New Roman"/>
                <a:cs typeface="Times New Roman"/>
              </a:rPr>
              <a:t>Теоретические</a:t>
            </a:r>
            <a:r>
              <a:rPr lang="en-US" sz="2000" b="1">
                <a:solidFill>
                  <a:srgbClr val="0891B2"/>
                </a:solidFill>
                <a:latin typeface="Times New Roman"/>
                <a:cs typeface="Times New Roman"/>
              </a:rPr>
              <a:t> </a:t>
            </a:r>
            <a:r>
              <a:rPr lang="en-US" sz="2000" b="1" err="1">
                <a:solidFill>
                  <a:srgbClr val="0891B2"/>
                </a:solidFill>
                <a:latin typeface="Times New Roman"/>
                <a:cs typeface="Times New Roman"/>
              </a:rPr>
              <a:t>знания</a:t>
            </a:r>
            <a:endParaRPr lang="ru-RU" err="1"/>
          </a:p>
          <a:p>
            <a:endParaRPr lang="en-US" sz="2000" b="1" dirty="0">
              <a:solidFill>
                <a:srgbClr val="0891B2"/>
              </a:solidFill>
              <a:latin typeface="Times New Roman"/>
              <a:ea typeface="Segoe UI"/>
              <a:cs typeface="Segoe UI"/>
            </a:endParaRPr>
          </a:p>
          <a:p>
            <a:pPr algn="ctr"/>
            <a:endParaRPr lang="ru-RU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C3B38129-8BA7-78B3-D75E-B9C80E6EBCA6}"/>
              </a:ext>
            </a:extLst>
          </p:cNvPr>
          <p:cNvCxnSpPr/>
          <p:nvPr/>
        </p:nvCxnSpPr>
        <p:spPr>
          <a:xfrm flipV="1">
            <a:off x="1419114" y="1852888"/>
            <a:ext cx="4214827" cy="9832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4251B4-9A8C-C7C0-467A-B798FEE2D2C2}"/>
              </a:ext>
            </a:extLst>
          </p:cNvPr>
          <p:cNvSpPr txBox="1"/>
          <p:nvPr/>
        </p:nvSpPr>
        <p:spPr>
          <a:xfrm>
            <a:off x="1419115" y="1980505"/>
            <a:ext cx="4217169" cy="20794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клиент-серверных информационных систем;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WPF;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данных;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endParaRPr lang="en-US" sz="1600" dirty="0">
              <a:solidFill>
                <a:srgbClr val="000000"/>
              </a:solidFill>
              <a:latin typeface="Times New Roman"/>
              <a:cs typeface="Segoe U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E2146A-689D-CDF0-8311-7CE74B53C52A}"/>
              </a:ext>
            </a:extLst>
          </p:cNvPr>
          <p:cNvSpPr txBox="1"/>
          <p:nvPr/>
        </p:nvSpPr>
        <p:spPr>
          <a:xfrm>
            <a:off x="7521313" y="1452878"/>
            <a:ext cx="285246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0891B2"/>
                </a:solidFill>
                <a:latin typeface="Times New Roman"/>
                <a:cs typeface="Times New Roman"/>
              </a:rPr>
              <a:t>Практические</a:t>
            </a:r>
            <a:r>
              <a:rPr lang="en-US" sz="2000" b="1" dirty="0">
                <a:solidFill>
                  <a:srgbClr val="0891B2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 err="1">
                <a:solidFill>
                  <a:srgbClr val="0891B2"/>
                </a:solidFill>
                <a:latin typeface="Times New Roman"/>
                <a:cs typeface="Times New Roman"/>
              </a:rPr>
              <a:t>навыки</a:t>
            </a:r>
          </a:p>
          <a:p>
            <a:endParaRPr lang="en-US" sz="2000" b="1" dirty="0">
              <a:solidFill>
                <a:srgbClr val="0891B2"/>
              </a:solidFill>
              <a:latin typeface="Times New Roman"/>
              <a:ea typeface="Calibri"/>
              <a:cs typeface="Times New Roman"/>
            </a:endParaRP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98BB146F-685F-F7CC-D2D7-A16E573B4C86}"/>
              </a:ext>
            </a:extLst>
          </p:cNvPr>
          <p:cNvCxnSpPr>
            <a:cxnSpLocks/>
          </p:cNvCxnSpPr>
          <p:nvPr/>
        </p:nvCxnSpPr>
        <p:spPr>
          <a:xfrm flipV="1">
            <a:off x="7221568" y="1862068"/>
            <a:ext cx="3976129" cy="19013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9F9C174-068E-969C-DFA7-4153DD4C3AD5}"/>
              </a:ext>
            </a:extLst>
          </p:cNvPr>
          <p:cNvSpPr txBox="1"/>
          <p:nvPr/>
        </p:nvSpPr>
        <p:spPr>
          <a:xfrm>
            <a:off x="6313784" y="1987980"/>
            <a:ext cx="6164413" cy="17113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WPF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Framewok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веб-интерфейсов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авторизации 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ролей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87A7B-3297-3DAC-8EA3-714825853B4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12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13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F4316-0C84-23A0-0931-9B1681DC3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90A1929-4480-4ACC-81ED-50DA3EF4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Достигнутые результаты</a:t>
            </a:r>
            <a:endParaRPr lang="ru-RU" dirty="0"/>
          </a:p>
        </p:txBody>
      </p:sp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00EC476-5AE9-E0AF-9782-E8030396E58B}"/>
              </a:ext>
            </a:extLst>
          </p:cNvPr>
          <p:cNvSpPr/>
          <p:nvPr/>
        </p:nvSpPr>
        <p:spPr>
          <a:xfrm>
            <a:off x="1298449" y="1716244"/>
            <a:ext cx="8692554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9394A0-28F2-5627-B6D3-6388582D59EC}"/>
              </a:ext>
            </a:extLst>
          </p:cNvPr>
          <p:cNvSpPr txBox="1"/>
          <p:nvPr/>
        </p:nvSpPr>
        <p:spPr>
          <a:xfrm>
            <a:off x="1308343" y="1733106"/>
            <a:ext cx="867276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веб-приложение для 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кондитерского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магазина;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ADEF9-B36F-044A-2B36-794AD760712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13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2" name="Прямоугольник 9">
            <a:extLst>
              <a:ext uri="{FF2B5EF4-FFF2-40B4-BE49-F238E27FC236}">
                <a16:creationId xmlns:a16="http://schemas.microsoft.com/office/drawing/2014/main" id="{AC1C0A8A-EFB7-4ECD-40F6-EE8170BC6931}"/>
              </a:ext>
            </a:extLst>
          </p:cNvPr>
          <p:cNvSpPr/>
          <p:nvPr/>
        </p:nvSpPr>
        <p:spPr>
          <a:xfrm>
            <a:off x="1298448" y="2768406"/>
            <a:ext cx="8682659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89E28-24E5-1988-978E-21C5571F193A}"/>
              </a:ext>
            </a:extLst>
          </p:cNvPr>
          <p:cNvSpPr txBox="1"/>
          <p:nvPr/>
        </p:nvSpPr>
        <p:spPr>
          <a:xfrm>
            <a:off x="1418764" y="2768405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база данных и бизнес-логика;</a:t>
            </a:r>
          </a:p>
        </p:txBody>
      </p:sp>
      <p:sp>
        <p:nvSpPr>
          <p:cNvPr id="6" name="Прямоугольник 9">
            <a:extLst>
              <a:ext uri="{FF2B5EF4-FFF2-40B4-BE49-F238E27FC236}">
                <a16:creationId xmlns:a16="http://schemas.microsoft.com/office/drawing/2014/main" id="{76612058-167A-C965-AC07-A6095C2B109D}"/>
              </a:ext>
            </a:extLst>
          </p:cNvPr>
          <p:cNvSpPr/>
          <p:nvPr/>
        </p:nvSpPr>
        <p:spPr>
          <a:xfrm>
            <a:off x="1308343" y="3820569"/>
            <a:ext cx="8682659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AB3FA-8653-DC10-5D64-B1ABFF2F0FC8}"/>
              </a:ext>
            </a:extLst>
          </p:cNvPr>
          <p:cNvSpPr txBox="1"/>
          <p:nvPr/>
        </p:nvSpPr>
        <p:spPr>
          <a:xfrm>
            <a:off x="1428659" y="3820568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пользовательский интерфейс;</a:t>
            </a: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C0542064-1610-6184-2C8E-C6AEEA2315C6}"/>
              </a:ext>
            </a:extLst>
          </p:cNvPr>
          <p:cNvSpPr/>
          <p:nvPr/>
        </p:nvSpPr>
        <p:spPr>
          <a:xfrm>
            <a:off x="1308343" y="4907455"/>
            <a:ext cx="8682659" cy="492440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3C0316-5779-42CB-FB15-E2BB5A80D318}"/>
              </a:ext>
            </a:extLst>
          </p:cNvPr>
          <p:cNvSpPr txBox="1"/>
          <p:nvPr/>
        </p:nvSpPr>
        <p:spPr>
          <a:xfrm>
            <a:off x="1428659" y="4954791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заказов;</a:t>
            </a:r>
          </a:p>
        </p:txBody>
      </p:sp>
    </p:spTree>
    <p:extLst>
      <p:ext uri="{BB962C8B-B14F-4D97-AF65-F5344CB8AC3E}">
        <p14:creationId xmlns:p14="http://schemas.microsoft.com/office/powerpoint/2010/main" val="31878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401E1-5F5E-9AEF-0B55-D950BC33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781B09C-8FFE-17AC-8134-62E8C731D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Выводы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BD838-6964-83C2-9485-9C05AAC0FD7C}"/>
              </a:ext>
            </a:extLst>
          </p:cNvPr>
          <p:cNvSpPr txBox="1"/>
          <p:nvPr/>
        </p:nvSpPr>
        <p:spPr>
          <a:xfrm>
            <a:off x="967916" y="1488479"/>
            <a:ext cx="10146927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AutoNum type="arabicPeriod"/>
            </a:pP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учебной практики было разработано полноценное веб-приложение на </a:t>
            </a:r>
            <a:r>
              <a:rPr 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WPF </a:t>
            </a:r>
            <a:r>
              <a:rPr lang="en-US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  <a:r>
              <a:rPr lang="ru-RU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Освоены навыки проектирования, разработки и тестирования программного обеспечения.</a:t>
            </a:r>
          </a:p>
          <a:p>
            <a:pPr marL="342900" indent="-342900" algn="just"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В результате были закреплены теоретические знания и получены практические навыки разработки веб-приложений, работы с базами данных и современными технологиями платформы .NET.</a:t>
            </a:r>
          </a:p>
          <a:p>
            <a:pPr marL="342900" indent="-342900" algn="just">
              <a:buAutoNum type="arabicPeriod"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работы были выполнены все поставленные задачи: спроектирована и реализована база данных, разработан пользовательский интерфейс, реализованы основные функции системы, включая регистрацию, авторизацию, каталог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товаров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заказов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pdf-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чека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 err="1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18F67-A6C8-870B-4FAA-654F34715F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579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5EED3-A571-AAAE-0A82-661237AE9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1BA0E-6C1F-4EEF-1CDC-D7F891BCA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898162" cy="13245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ОТЧЕТ</a:t>
            </a:r>
            <a:r>
              <a:rPr lang="ru-RU" b="1" dirty="0">
                <a:latin typeface="Times New Roman"/>
              </a:rPr>
              <a:t/>
            </a:r>
            <a:br>
              <a:rPr lang="ru-RU" b="1" dirty="0">
                <a:latin typeface="Times New Roman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о прохождении учебной практики</a:t>
            </a:r>
            <a:b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Разработка веб-приложения на базе </a:t>
            </a:r>
            <a:r>
              <a:rPr lang="en-US" sz="1800" dirty="0">
                <a:solidFill>
                  <a:schemeClr val="bg1"/>
                </a:solidFill>
                <a:latin typeface="Segoe UI"/>
                <a:cs typeface="Segoe UI"/>
              </a:rPr>
              <a:t>WPF </a:t>
            </a:r>
            <a:r>
              <a:rPr lang="en-US" sz="1800" dirty="0" err="1">
                <a:solidFill>
                  <a:schemeClr val="bg1"/>
                </a:solidFill>
                <a:latin typeface="Segoe UI"/>
                <a:cs typeface="Segoe UI"/>
              </a:rPr>
              <a:t>.Net</a:t>
            </a:r>
            <a:r>
              <a:rPr lang="en-US" sz="1800" dirty="0">
                <a:solidFill>
                  <a:schemeClr val="bg1"/>
                </a:solidFill>
                <a:latin typeface="Segoe UI"/>
                <a:cs typeface="Segoe UI"/>
              </a:rPr>
              <a:t> Framework </a:t>
            </a: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для кондитерского магазина</a:t>
            </a:r>
            <a:endParaRPr lang="ru-RU" sz="18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963462-960A-48D2-7FC1-9F261698D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0808" y="5376819"/>
            <a:ext cx="5587057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ФИО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Мороз Григорий Игоревич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09B8B13-8B7D-BB9E-53BC-D634F2B9201B}"/>
              </a:ext>
            </a:extLst>
          </p:cNvPr>
          <p:cNvSpPr txBox="1">
            <a:spLocks/>
          </p:cNvSpPr>
          <p:nvPr/>
        </p:nvSpPr>
        <p:spPr>
          <a:xfrm>
            <a:off x="4818990" y="5926157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Группа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53-04к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9277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7958</TotalTime>
  <Words>692</Words>
  <Application>Microsoft Office PowerPoint</Application>
  <PresentationFormat>Широкоэкранный</PresentationFormat>
  <Paragraphs>109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Segoe UI</vt:lpstr>
      <vt:lpstr>Times New Roman</vt:lpstr>
      <vt:lpstr>Wingdings</vt:lpstr>
      <vt:lpstr>Тема1</vt:lpstr>
      <vt:lpstr>ОТЧЕТ о прохождении учебной практики Разработка веб-приложения на базе WPF .Net Framework для кондитерского магазина</vt:lpstr>
      <vt:lpstr>Информация о практике</vt:lpstr>
      <vt:lpstr>Цели и задачи практики</vt:lpstr>
      <vt:lpstr>Этап 1: Постановка задачи на разработку программного продукта. Анализ поставленной задачи.</vt:lpstr>
      <vt:lpstr>Этап 2: Определение объектов задачи и их атрибутов. </vt:lpstr>
      <vt:lpstr>Этап 3: Создание интерфейса программного продукта на основе объектов поставленной задачи и их свойств.</vt:lpstr>
      <vt:lpstr>Результаты этапа 3 : </vt:lpstr>
      <vt:lpstr>Результаты этапа 3 : </vt:lpstr>
      <vt:lpstr>Этап 4: Отладка программного продукта</vt:lpstr>
      <vt:lpstr>Этап 5: Тестирование программного продукта</vt:lpstr>
      <vt:lpstr>Этап 6: Оптимизация программного кода и интерфейса продукта.</vt:lpstr>
      <vt:lpstr>Освоенные навыки и знания</vt:lpstr>
      <vt:lpstr>Достигнутые результаты</vt:lpstr>
      <vt:lpstr>Выводы</vt:lpstr>
      <vt:lpstr>ОТЧЕТ о прохождении учебной практики Разработка веб-приложения на базе WPF .Net Framework для кондитерского магазина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Маркетинговые исследования рынка образовательных услуг</dc:title>
  <dc:creator>Сидякина Анастасия Алексеевна</dc:creator>
  <cp:lastModifiedBy>Мороз Григорий Игоревич</cp:lastModifiedBy>
  <cp:revision>848</cp:revision>
  <dcterms:created xsi:type="dcterms:W3CDTF">2023-01-30T07:02:12Z</dcterms:created>
  <dcterms:modified xsi:type="dcterms:W3CDTF">2026-04-22T06:40:32Z</dcterms:modified>
</cp:coreProperties>
</file>